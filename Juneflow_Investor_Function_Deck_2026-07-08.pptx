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1097280"/>
            <a:ext cx="2743200" cy="1051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24160" y="1920240"/>
            <a:ext cx="274320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0" y="2926080"/>
            <a:ext cx="274320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55680" y="4023360"/>
            <a:ext cx="2743200" cy="10515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Juneflow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8686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BAE6FD"/>
                </a:solidFill>
                <a:latin typeface="Arial"/>
              </a:defRPr>
            </a:pPr>
            <a:r>
              <a:t>Construction ERP + Subscription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ระบบเดียวสำหรับควบคุมต้นทุน งานก่อสร้าง ผู้รับเหมา การเงิน บัญชี ฝ่ายขาย และบริการหลังขาย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ออกแบบเป็น Multi-tenant SaaS: แพ็กเกจ S/M/L/Full, จำกัดเมนู/โควต้า/AI credit ตามแผน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สรุปฟังก์ชันจาก prototype และ handoff documents เพื่อใช้เสนอนักลงทุน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2560320" cy="1051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44+</a:t>
            </a:r>
          </a:p>
          <a:p>
            <a:pPr algn="ctr">
              <a:defRPr sz="1050">
                <a:solidFill>
                  <a:srgbClr val="FFFFFF"/>
                </a:solidFill>
                <a:latin typeface="Arial"/>
              </a:defRPr>
            </a:pPr>
            <a:r>
              <a:t>เมนูหลัก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5989320"/>
            <a:ext cx="25603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100+</a:t>
            </a:r>
          </a:p>
          <a:p>
            <a:pPr algn="ctr">
              <a:defRPr sz="1050">
                <a:solidFill>
                  <a:srgbClr val="FFFFFF"/>
                </a:solidFill>
                <a:latin typeface="Arial"/>
              </a:defRPr>
            </a:pPr>
            <a:r>
              <a:t>หน้าจอ/route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989320"/>
            <a:ext cx="25603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719</a:t>
            </a:r>
          </a:p>
          <a:p>
            <a:pPr algn="ctr">
              <a:defRPr sz="1050">
                <a:solidFill>
                  <a:srgbClr val="FFFFFF"/>
                </a:solidFill>
                <a:latin typeface="Arial"/>
              </a:defRPr>
            </a:pPr>
            <a:r>
              <a:t>declared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5989320"/>
            <a:ext cx="2560320" cy="105156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  <a:p>
            <a:pPr algn="ctr">
              <a:defRPr sz="1050">
                <a:solidFill>
                  <a:srgbClr val="FFFFFF"/>
                </a:solidFill>
                <a:latin typeface="Arial"/>
              </a:defRPr>
            </a:pPr>
            <a:r>
              <a:t>project 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สรุปใน 1 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Juneflow คือ ERP เฉพาะทางที่เอา construction workflow + finance + SaaS platform มาอยู่ในระบบเดียว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206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EF4444"/>
                </a:solidFill>
                <a:latin typeface="Arial"/>
              </a:defRPr>
            </a:pPr>
            <a:r>
              <a:t>01 Pain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ธุรกิจก่อสร้าง/อสังหาฯ ใช้ Excel, แชต, เอกสารกระดาษ และหลายระบบแยกกัน ทำให้ต้นทุน-งบ-งานจริง reconcile ยาก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1325880"/>
            <a:ext cx="4206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02 Product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ตั้งแต่ land → BOQ/BOM → PR/PO/WO/GR → ผู้รับเหมา → GL/AP/AR/Tax → Sales/After-sales → Mobile/LINE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0" y="1325880"/>
            <a:ext cx="4206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03 Business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ขายแบบ subscription package พร้อม seat, project, storage, AI quota และ admin console สำหรับจัดการ tenant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84080" y="13258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จุดเด่นสำหรับนักลงทุน: vertical SaaS ที่มี workflow ลึก ไม่ใช่ generic ERP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รองรับ 4 market entry: อสังหา, Solar/EPC, Civil contractor, Service/maintenance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rial"/>
              </a:defRPr>
            </a:pPr>
            <a:r>
              <a:t>ข้อมูลทุกโมดูลไหลเข้าศูนย์กลาง: AuditLog, DMS, approval matrix, GL posting, reports hub</a:t>
            </a:r>
          </a:p>
        </p:txBody>
      </p:sp>
      <p:pic>
        <p:nvPicPr>
          <p:cNvPr id="12" name="Picture 11" descr="pm-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5303520"/>
            <a:ext cx="42976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8320" y="736092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ตัวอย่างหน้าจอ dashboard /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ภาพรวมระบบ: From Project to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แสดงระบบเป็น value chain เดียวตั้งแต่เริ่มโครงการจนถึงรับรู้รายได้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6D28D9"/>
                </a:solidFill>
                <a:latin typeface="Arial"/>
              </a:defRPr>
            </a:pPr>
            <a:r>
              <a:t>Land / Project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จัดหาที่ดิน</a:t>
            </a:r>
            <a:br/>
            <a:r>
              <a:t>Project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31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651760" y="2532888"/>
            <a:ext cx="246888" cy="0"/>
          </a:xfrm>
          <a:prstGeom prst="line">
            <a:avLst/>
          </a:prstGeom>
          <a:ln w="279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79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Budget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BOQ/BOM</a:t>
            </a:r>
            <a:br/>
            <a:r>
              <a:t>AI QTO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8288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983479" y="2532888"/>
            <a:ext cx="246889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57800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EA5E9"/>
                </a:solidFill>
                <a:latin typeface="Arial"/>
              </a:defRPr>
            </a:pPr>
            <a:r>
              <a:t>Procure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PR/PO/WO</a:t>
            </a:r>
            <a:br/>
            <a:r>
              <a:t>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8288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532888"/>
            <a:ext cx="246888" cy="0"/>
          </a:xfrm>
          <a:prstGeom prst="line">
            <a:avLst/>
          </a:prstGeom>
          <a:ln w="2794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19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Build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ผู้รับเหมา</a:t>
            </a:r>
            <a:br/>
            <a:r>
              <a:t>Timeline / Inventory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19" y="18288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646919" y="2532888"/>
            <a:ext cx="246888" cy="0"/>
          </a:xfrm>
          <a:prstGeom prst="line">
            <a:avLst/>
          </a:prstGeom>
          <a:ln w="2794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21240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Finance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AP/AR/GL</a:t>
            </a:r>
            <a:br/>
            <a:r>
              <a:t>Tax / Bank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8288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1978640" y="2532888"/>
            <a:ext cx="246888" cy="0"/>
          </a:xfrm>
          <a:prstGeom prst="line">
            <a:avLst/>
          </a:prstGeom>
          <a:ln w="279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252960" y="182880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Sell &amp; Serve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CRM / โอน</a:t>
            </a:r>
            <a:br/>
            <a:r>
              <a:t>After-sales / 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52960" y="1828800"/>
            <a:ext cx="7315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29768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0B2A4A"/>
                </a:solidFill>
                <a:latin typeface="Arial"/>
              </a:defRPr>
            </a:pPr>
            <a:r>
              <a:t>SaaS Platform 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Multi-tenant, package builder, quotas, user/role, menu gating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297680"/>
            <a:ext cx="73152" cy="14173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9080" y="429768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CTRL Control 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Approval matrix, audit log, DMS, notifications, reports 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42976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23760" y="429768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 Data 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Master data, project type, cost center, document numbering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429768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78440" y="429768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MOB Channel Layer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Web, mobile approval, field app, LINE OA / LIFF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78440" y="429768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n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217920"/>
            <a:ext cx="6035040" cy="1143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740664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ตัวอย่าง land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รองรับ 4 ประเภทโครงการ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แต่ละ project type เปิดโมดูลตามบริบท ทำให้ขายได้หลาย vertical จาก product core 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6080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อสังหาริมทรัพย์ · Real Estate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บ้านจัดสรร/คอนโด: ก่อสร้าง → ขาย → หลังขาย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0" y="1417320"/>
            <a:ext cx="6080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Solar / EPC · Energy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EPC, PPA, O&amp;M, ROI, Permit, Warranty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4173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6080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ก่อสร้างโยธา · Civil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BOQ, จัดซื้อ, ผู้รับเหมา, timeline, inventory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39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60920" y="3291839"/>
            <a:ext cx="6080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6D28D9"/>
                </a:solidFill>
                <a:latin typeface="Arial"/>
              </a:defRPr>
            </a:pPr>
            <a:r>
              <a:t>บริการทั่วไป · Service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งบประมาณ, procurement, PM,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3291839"/>
            <a:ext cx="731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Module gating: land, BOQ, procurement, subcon, inventory, PM, sales, LINE OA, O&amp;M, PPA, ROI, permit, warranty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Hierarchy ปรับตามประเภท เช่น Real Estate = โครงการ→เฟส→บล็อก→ยูนิต→Model / Solar = Site→Array→String→Inverter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SaaS Platform &amp;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Juneflow มี platform layer สำหรับขายเป็นแพ็กเกจ ไม่ใช่แค่ software project รายครั้ง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023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01 Package Builder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กำหนดแพ็กเกจ S/M/L/Full, ราคา, จำนวน project/user/storage/AI credit และเมนูที่เปิดใช้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1325880"/>
            <a:ext cx="4023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02 Tenant Control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ลูกค้าเห็นเฉพาะเมนูตาม package + project type; dashboard และ billing ใช้งานเสมอ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2588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0" y="1325880"/>
            <a:ext cx="4023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03 Admin Console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MRR, subscribers, invoices, package/seat change, suspend, notify, reset password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32588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3931920"/>
            <a:ext cx="3657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6D28D9"/>
                </a:solidFill>
                <a:latin typeface="Arial"/>
              </a:defRPr>
            </a:pPr>
            <a:r>
              <a:t>AI AI Quota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ตัด credit เมื่อใช้ AI QTO · หมดแล้วขึ้น upgrade modal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931920"/>
            <a:ext cx="73152" cy="1371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0" y="3931920"/>
            <a:ext cx="3657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0EA5E9"/>
                </a:solidFill>
                <a:latin typeface="Arial"/>
              </a:defRPr>
            </a:pPr>
            <a:r>
              <a:t>UP Upsell Path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เมนู/โควต้าที่ถูก block ส่งกลับหน้า upgrade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931920"/>
            <a:ext cx="73152" cy="1371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3931920"/>
            <a:ext cx="3657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EF4444"/>
                </a:solidFill>
                <a:latin typeface="Arial"/>
              </a:defRPr>
            </a:pPr>
            <a:r>
              <a:t>฿ Billing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ประวัติบิล ใบเสร็จ และสถานะค้างชำระ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3931920"/>
            <a:ext cx="73152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Function Coverage — แผนที่โมดูลหลัก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หน้าหลักอ่านง่าย แต่ยังครอบคลุมฟังก์ชันสำคัญทั้งหมด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B2A4A"/>
                </a:solidFill>
                <a:latin typeface="Arial"/>
              </a:defRPr>
            </a:pPr>
            <a:r>
              <a:t>Master Data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Company/Org, Project Type, Project/Phase/Unit, Vendor/Customer, Cost Center, Doc Numbering, Users/Roles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0789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BOQ &amp; AI QTO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BOQ list/editor/approval/reports, BOM template, AI CAD/BIM takeoff, 3D review, create BOQ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23444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715768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EA5E9"/>
                </a:solidFill>
                <a:latin typeface="Arial"/>
              </a:defRPr>
            </a:pPr>
            <a:r>
              <a:t>Procurement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PR, PO, WO, GR, vendor compare, variation order, milestone, return/defect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15768"/>
            <a:ext cx="73152" cy="10789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2715768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Subcontractor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Contract register, progress claim, inspection, retention, DMS handover, acceptance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15768"/>
            <a:ext cx="73152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4197096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Finance &amp; Accounting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AP, AR, GL, Bank, Tax, FA, Labor, OPEX, RevRec/WIP, project P&amp;L, cashflow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97096"/>
            <a:ext cx="7315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4197096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Sales &amp; Service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CRM, quote/booking/contract, down payment, loan/transfer, after-sales ticket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4197096"/>
            <a:ext cx="73152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5678424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6D28D9"/>
                </a:solidFill>
                <a:latin typeface="Arial"/>
              </a:defRPr>
            </a:pPr>
            <a:r>
              <a:t>PM / CMMS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Maintenance contract, schedule, assets, work order, checklist, photo/video, signature, LINE cert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678424"/>
            <a:ext cx="73152" cy="10789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5678424"/>
            <a:ext cx="6446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E7490"/>
                </a:solidFill>
                <a:latin typeface="Arial"/>
              </a:defRPr>
            </a:pPr>
            <a:r>
              <a:t>Mobile / LINE / DMS</a:t>
            </a:r>
          </a:p>
          <a:p>
            <a:pPr>
              <a:spcBef>
                <a:spcPts val="400"/>
              </a:spcBef>
              <a:defRPr sz="969">
                <a:solidFill>
                  <a:srgbClr val="475569"/>
                </a:solidFill>
                <a:latin typeface="Arial"/>
              </a:defRPr>
            </a:pPr>
            <a:r>
              <a:t>Mobile approvals/field/store/foreman, LINE OA/LIFF, DMS, notifications, reports,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5678424"/>
            <a:ext cx="73152" cy="10789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BOQ, BOM &amp; AI Quantity Takeoff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หัวใจของ construction ERP: คุมงบตั้งแต่แบบจนเกิดเอกสารจัดซื้อ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1 Upload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IFC/RVT/DWG/DXF/PDF</a:t>
            </a:r>
            <a:br/>
            <a:r>
              <a:t>LOD + thumbnail + AI credit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657600" y="2304288"/>
            <a:ext cx="50292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60020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EA5E9"/>
                </a:solidFill>
                <a:latin typeface="Arial"/>
              </a:defRPr>
            </a:pPr>
            <a:r>
              <a:t>2 Process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parse → detect → classify</a:t>
            </a:r>
            <a:br/>
            <a:r>
              <a:t>map → calculate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086600" y="2304288"/>
            <a:ext cx="50292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80960" y="160020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3 Review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แก้ mapping/qty</a:t>
            </a:r>
            <a:br/>
            <a:r>
              <a:t>confidence + 3D/2D viewer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515600" y="2304288"/>
            <a:ext cx="50292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109960" y="160020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4 Create BOQ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สร้าง BOQ พร้อม traceability</a:t>
            </a:r>
            <a:br/>
            <a:r>
              <a:t>เข้า approval/reports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09960" y="16002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6035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BOQ Editor: เพิ่ม/แก้/ย้ายหมวด, bulk, สร้าง PR จากรายการที่เลือก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Budget Control: เทียบ budget/used/committed และเตือนเกินงบ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Approval: diff เวอร์ชัน, ladder, comment, approve/reject/request change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Reports: cost summary, M/S/L, variance, EVM, revise history</a:t>
            </a:r>
          </a:p>
        </p:txBody>
      </p:sp>
      <p:pic>
        <p:nvPicPr>
          <p:cNvPr id="17" name="Picture 16" descr="01-ptype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83280"/>
            <a:ext cx="621792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0" y="617220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ตัวอย่าง modal / type-aware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Procurement + Subcontractor +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เอกสารจัดซื้อและตรวจรับเชื่อมกับ BOQ, DMS, defect, AP และ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PR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เลือกจาก BOQ</a:t>
            </a:r>
            <a:br/>
            <a:r>
              <a:t>แนบไฟล์</a:t>
            </a:r>
            <a:br/>
            <a:r>
              <a:t>approval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657600" y="2286000"/>
            <a:ext cx="54864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55448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0EA5E9"/>
                </a:solidFill>
                <a:latin typeface="Arial"/>
              </a:defRPr>
            </a:pPr>
            <a:r>
              <a:t>PO / WO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เทียบ vendor</a:t>
            </a:r>
            <a:br/>
            <a:r>
              <a:t>VO งานเพิ่ม-ลด</a:t>
            </a:r>
            <a:br/>
            <a:r>
              <a:t>milestone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95160" y="2286000"/>
            <a:ext cx="548640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89520" y="155448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GR / Accept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รับเต็ม/บางส่วน</a:t>
            </a:r>
            <a:br/>
            <a:r>
              <a:t>รูป + ตีกลับ</a:t>
            </a:r>
            <a:br/>
            <a:r>
              <a:t>defect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55448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332720" y="2286000"/>
            <a:ext cx="548639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27080" y="155448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AP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ตั้งหนี้ 3-way match</a:t>
            </a:r>
            <a:br/>
            <a:r>
              <a:t>PV + WHT</a:t>
            </a:r>
            <a:br/>
            <a:r>
              <a:t>จ่ายเงิน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27080" y="155448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5669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SUB ผู้รับเหมา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ทะเบียนสัญญา → งวดงาน → ส่งมอบเอกสาร/รูป → นัดตรวจ → ผ่านจ่าย/ตีกลับ defect → ตรวจซ้ำ → ปิดงาน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977639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3977639"/>
            <a:ext cx="5669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EF4444"/>
                </a:solidFill>
                <a:latin typeface="Arial"/>
              </a:defRPr>
            </a:pPr>
            <a:r>
              <a:t>ACC Acceptance Center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รวมตรวจรับทุกชนิด: GR ตีกลับ, งวดงาน, บ้านลูกค้า; เชื่อม Mobile, Dashboard, Audit, Reports, DMS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977639"/>
            <a:ext cx="7315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Finance &amp; Accounting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ทุกเอกสารเงินไหลเข้า GL posting และรายงานผู้บริหาร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AP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Billing, PV, CN/DN, Deposit, Retention, 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57800" y="12344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0EA5E9"/>
                </a:solidFill>
                <a:latin typeface="Arial"/>
              </a:defRPr>
            </a:pPr>
            <a:r>
              <a:t>AR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Invoice, Tax invoice, RV, Credit note, Aging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23444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29800" y="12344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GL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COA, JV, Posting Inbox, Trial, Statements, RevRec/WIP,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800" y="123444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Bank/Tax/FA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Cheque, Recon, Export, VAT/WHT/e-Tax, Asset, Depreciation, Write-off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6324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30632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6D28D9"/>
                </a:solidFill>
                <a:latin typeface="Arial"/>
              </a:defRPr>
            </a:pPr>
            <a:r>
              <a:t>Labor/OPEX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Attendance, payroll, cost allocation, OPEX budget, multi-year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3063240"/>
            <a:ext cx="73152" cy="1325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3063240"/>
            <a:ext cx="4160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Management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Cashflow, Project P&amp;L, reports hub,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800" y="3063240"/>
            <a:ext cx="73152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243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0B2A4A"/>
                </a:solidFill>
                <a:latin typeface="Arial"/>
              </a:defRPr>
            </a:pPr>
            <a:r>
              <a:t>กติการวม: เงินทุกใบต้องเข้า GL Posting → JV, mutation ทุกจุดเข้า AuditLog, ไฟล์แนบทุกจุดเข้า DMS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Sales, After-sales, Mobile &amp; LINE 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ขยายจาก ERP ก่อสร้างไปถึง customer journey หลังขาย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023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CRM Sales CRM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Lead pipeline, dashboard, lead detail, report dialog, quote/booking/contract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1325880"/>
            <a:ext cx="4023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SALE ขายยูนิต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Quote → จอง → สัญญา → งวดดาวน์ → สินเชื่อ → โอน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2588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0" y="1325880"/>
            <a:ext cx="4023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EF4444"/>
                </a:solidFill>
                <a:latin typeface="Arial"/>
              </a:defRPr>
            </a:pPr>
            <a:r>
              <a:t>SERV After-sales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แจ้งซ่อม, ticket detail, priority/status, defect loop, รูป/เอกสาร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32588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023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6D28D9"/>
                </a:solidFill>
                <a:latin typeface="Arial"/>
              </a:defRPr>
            </a:pPr>
            <a:r>
              <a:t>APP Mobile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อนุมัติเอกสาร, แจ้งซ่อม, PM technician, store, foreman, GR/defect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73152" cy="1508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3657600"/>
            <a:ext cx="40233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LINE LINE OA / LIFF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บิล, นัดหมาย, แจ้งซ่อม, งวดดาวน์, PM quote/cert/contracts, rich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6576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m-manua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01568"/>
            <a:ext cx="3794760" cy="2377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0" y="5824728"/>
            <a:ext cx="3794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ตัวอย่าง mobile/PM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PM / CMMS: งานบริการและบำรุงรักษา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เปิดตลาดบริการ/maintenance และเชื่อม field workflow กับ LINE</a:t>
            </a:r>
          </a:p>
        </p:txBody>
      </p:sp>
      <p:pic>
        <p:nvPicPr>
          <p:cNvPr id="5" name="Picture 4" descr="pm-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62179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75488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ตัวอย่าง PM grouped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2971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Contract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wizard สร้างสัญญา, MA/รายครั้ง, ต่ออายุ, project-first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0" y="1417320"/>
            <a:ext cx="2971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0EA5E9"/>
                </a:solidFill>
                <a:latin typeface="Arial"/>
              </a:defRPr>
            </a:pPr>
            <a:r>
              <a:t>Schedule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auto-gen ใบงานลงปฏิทิน, คลิกวันเพื่อกรองงาน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0" y="1417320"/>
            <a:ext cx="73152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3154680"/>
            <a:ext cx="2971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Work Order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check-in GPS, checklist, รูปก่อน/หลัง, signature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15468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98480" y="3154680"/>
            <a:ext cx="2971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Customer Channel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ใบรับรองผล → LINE, อะไหล่ → quote → ลูกค้าอนุมัติผ่าน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315468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54864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เหมาะกับ recurring revenue เพิ่มจาก software: maintenance contracts + after-sales + field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Land, Solar/EPC และ Vertical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ใช้ core เดียว แต่เปิดฟีเจอร์เฉพาะ vertical ตาม project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206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6D28D9"/>
                </a:solidFill>
                <a:latin typeface="Arial"/>
              </a:defRPr>
            </a:pPr>
            <a:r>
              <a:t>LAND Land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Pipeline 7 ขั้น, Land Bank, survey/feasibility, DD checklist, purchase/lease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508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1325880"/>
            <a:ext cx="4206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F59E0B"/>
                </a:solidFill>
                <a:latin typeface="Arial"/>
              </a:defRPr>
            </a:pPr>
            <a:r>
              <a:t>SOLAR Solar / EPC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Monitoring inverter, O&amp;M ticket, PPA billing, ROI, permit, warranty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2588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325880"/>
            <a:ext cx="4206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CIV Civil / Service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BOQ/procurement/subcon/timeline สำหรับ civil; service เน้นงบ/แผน/PM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132588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land-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57600"/>
            <a:ext cx="603504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44652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Land workflow reference</a:t>
            </a:r>
          </a:p>
        </p:txBody>
      </p:sp>
      <p:pic>
        <p:nvPicPr>
          <p:cNvPr id="13" name="Picture 12" descr="02-pm-c-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657600"/>
            <a:ext cx="6035040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79" y="6446520"/>
            <a:ext cx="6035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Project-first wizard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Operational Backbone: สิ่งที่ทำให้ระบบ Scale 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กฎกลางที่บังคับทุกโมดูลเพื่อความน่าเชื่อถือของข้อมูล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0B2A4A"/>
                </a:solidFill>
                <a:latin typeface="Arial"/>
              </a:defRPr>
            </a:pPr>
            <a:r>
              <a:t>AuditLog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ทุก mutation ต้องมี log ใคร-ทำอะไร-เมื่อไหร่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123444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DMS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ทุกไฟล์แนบเข้าศูนย์เอกสาร พร้อม link_module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2344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0" y="123444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Approval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สถานะ draft→pending→approved/rejected ตาม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234440"/>
            <a:ext cx="73152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GL Posting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เอกสารเงินทุกใบต้อง post เป็น JV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324612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6D28D9"/>
                </a:solidFill>
                <a:latin typeface="Arial"/>
              </a:defRPr>
            </a:pPr>
            <a:r>
              <a:t>i18n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รองรับ 4 ภาษา th/zh/en/ar-RTL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246120"/>
            <a:ext cx="73152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3246120"/>
            <a:ext cx="4069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Quota/Middleware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ตรวจ package/menu/AI credit ที่ middleware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3246120"/>
            <a:ext cx="73152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0B2A4A"/>
                </a:solidFill>
                <a:latin typeface="Arial"/>
              </a:defRPr>
            </a:pPr>
            <a:r>
              <a:t>Investor message: ความลึกของ workflow + backbone เหล่านี้สร้าง switching cost และทำให้ product แตกต่างจาก SaaS ทั่วไป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Investor Story ที่ควรเล่า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เน้น “vertical SaaS ที่คุมเงินจริงและ workflow จริง”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931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600" b="1">
                <a:solidFill>
                  <a:srgbClr val="EF4444"/>
                </a:solidFill>
                <a:latin typeface="Arial"/>
              </a:defRPr>
            </a:pPr>
            <a:r>
              <a:t>1. Problem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ข้อมูลก่อสร้างกระจาย: BOQ อยู่ Excel, จัดซื้ออยู่เอกสาร, ผู้รับเหมาอยู่แชต, บัญชีลงทีหลัง ทำให้คุมต้นทุน/กำไรโครงการช้าและผิดพลาด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4297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49240" y="1234440"/>
            <a:ext cx="3931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2. Solution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Juneflow รวม workflow ทั้งหมดไว้ในระบบเดียว พร้อม approval, audit, DMS, GL posting และ dashboard ผู้บริหารแบบ project-aware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123444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0" y="1234440"/>
            <a:ext cx="3931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3. Scale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Arial"/>
              </a:defRPr>
            </a:pPr>
            <a:r>
              <a:t>ขายแบบ subscription package ให้หลายประเภทโครงการ ใช้ core platform เดียว แต่เปิดโมดูลตาม vertical และเพิ่ม AI/field/mobile เป็น upsell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123444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261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0B2A4A"/>
                </a:solidFill>
                <a:latin typeface="Arial"/>
              </a:defRPr>
            </a:pPr>
            <a:r>
              <a:t>ประโยคสั้นบนสไลด์: “From construction chaos to project-level financial control.”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โครงสไลด์สำหรับใช้ Pitch 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เวอร์ชันนำเสนอควรใช้ 10–12 หน้า ส่วนรายละเอียดฟังก์ชันเก็บเป็น appendix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9728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1. Problem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เอกสาร/ต้นทุน/บัญชี/ไซต์งานแยกกัน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9728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109728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2. Solution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Construction ERP + SaaS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09728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3. Product Map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flow ตั้งแต่ land → finance → after-sales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79" y="233172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6D28D9"/>
                </a:solidFill>
                <a:latin typeface="Arial"/>
              </a:defRPr>
            </a:pPr>
            <a:r>
              <a:t>4. Core Modules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BOQ, Procurement, Subcon, Finance, Sales, 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331720"/>
            <a:ext cx="73152" cy="8686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56616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5. SaaS Model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แพ็กเกจ + quota + admin console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66160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356616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6. Market Entry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Real Estate, Solar/EPC, Civil, Service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56616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80060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7. Differentiation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AI QTO, GL automation, Mobile/LINE, Audit/DMS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80060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79" y="480060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8. Traction / Demo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ใส่ screenshot หรือ demo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80060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603504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6D28D9"/>
                </a:solidFill>
                <a:latin typeface="Arial"/>
              </a:defRPr>
            </a:pPr>
            <a:r>
              <a:t>9. Business Model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subscription + AI credit + implementation/support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35040"/>
            <a:ext cx="73152" cy="8686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98079" y="6035040"/>
            <a:ext cx="6309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10. Ask / Roadmap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เงินที่ต้องการใช้ทำอะไร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6035040"/>
            <a:ext cx="7315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ภาพประกอบจาก Prototype / Visual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ใช้เป็นสไลด์ demo หรือแบ่งใส่ตามโมดูล</a:t>
            </a:r>
          </a:p>
        </p:txBody>
      </p:sp>
      <p:pic>
        <p:nvPicPr>
          <p:cNvPr id="5" name="Picture 4" descr="lan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21792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7472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Land pipeline</a:t>
            </a:r>
          </a:p>
        </p:txBody>
      </p:sp>
      <p:pic>
        <p:nvPicPr>
          <p:cNvPr id="7" name="Picture 6" descr="pm-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88720"/>
            <a:ext cx="621792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347472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PM dashboard</a:t>
            </a:r>
          </a:p>
        </p:txBody>
      </p:sp>
      <p:pic>
        <p:nvPicPr>
          <p:cNvPr id="9" name="Picture 8" descr="pm-contract-ste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60520"/>
            <a:ext cx="621792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44652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PM contract wizard</a:t>
            </a:r>
          </a:p>
        </p:txBody>
      </p:sp>
      <p:pic>
        <p:nvPicPr>
          <p:cNvPr id="11" name="Picture 10" descr="pm-grou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160520"/>
            <a:ext cx="6217920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6446520"/>
            <a:ext cx="6217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Arial"/>
              </a:defRPr>
            </a:pPr>
            <a:r>
              <a:t>PM contract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Appendix: Function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รายละเอียดถัดไปคือ function inventory จาก source document เพื่อยืนยันความครบถ้วน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261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Source: docs/handoff/FUNCTIONS.md — สรุป behavior ราย feature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Source: docs/handoff/FUNCTIONS-INVENTORY.md — สแกน component/function จาก prototype ทั้งหมด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Coverage: 719 declared functions / 78 source files, route/menu จาก docs/extract/NAV-ROUTES.md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แนวทางใช้จริง: presenter ใช้สไลด์หลัก 1–16; appendix เปิดเมื่อตอบคำถามเชิงลึก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2618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0B2A4A"/>
                </a:solidFill>
                <a:latin typeface="Arial"/>
              </a:defRPr>
            </a:pPr>
            <a:r>
              <a:t>หมายเหตุ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เพื่อให้อ่านง่าย สไลด์หลักจะรวม function เป็นกลุ่มธุรกิจ ส่วน appendix เก็บชื่อ function/source file ครบถ้วนแบบ compact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73152" cy="13716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A1: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accounting-extra.jsx: 12 functions: COA_CLASSES, COA_SEED, GLChartOfAccounts, COAForm, AGING_AP, AGING_AR, agRowTotal, FinAging, REVREC_SEED, WIP_SEED, GLRevenueWIP, WIPTransferForm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accounting-extra2.jsx: 16 functions: RETENTION_SEED, RET_ST, APRetention, ARCN_SEED, ARCN_REASONS, ARCreditNote, ARCNForm, CASHFLOW_DATA, GLCashFlow, PROJPL_SEED, plRev, plCogs, plGP, plEBIT, plNP, GLProjectPL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ai-qto-fullscreen.jsx: 1 functions: BIMFullscreen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ai-qto-viewer.jsx: 4 functions: iso, qtoGroupOf, QTO_LAYERS, BIMViewer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ai-qto.jsx: 8 functions: QTO_FILETYPES, QTO_PROC_STEPS, QTO_ELEMENTS_FOUND, QTO_ROWS_SEED, QTO_CAT_TONE, AIQuantityTakeoff, QTOReview, QTOSummary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ap.jsx: 10 functions: AP_BILL, APBilling, BillingForm, PV_LIST, APPaymentVoucher, PVCreateForm, APCreditDebit, APDeposit, APDepositForm, CNDNForm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ar.jsx: 6 functions: AR_INV, ARInvoice, ARInvoiceForm, ARTaxInvoice, ARReceiveVoucher, RVCreateForm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bank.jsx: 3 functions: BankCheque, BankReconciliation, BankExport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bom.jsx: 9 functions: BOM_CAT, BomCatChip, BOM_MODELS, BOM_LINES, bomTotal, bomCatTotal, BOMTemplates, bomTh, bomTd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A2: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boq-extra.jsx: 17 functions: CBS_BUDGET, BOQ_AUDIT, PR_REQUESTERS, PR_DELIVERY, bahtK, openBOQtoPR, BOQtoPRForm, openBOQRevise, BOQReviseForm, BOQLockedBanner, BudgetControlBar, BOQAuditDrawer, ReportCard, BOQReportMSL, BOQReportVariance, BOQReportEVM, BOQReportsExtra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boq-list.jsx: 9 functions: BOQStore, useBOQDocs, BOQ_PROJECTS, BOQ_USERS, BOQ_STATUS_FILTER, BOQList, openNewBOQ, NewBOQForm, ExcelImportInline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boq.jsx: 29 functions: CAT, CatChip, BOQTabBar, BOQOverview, ScopePill, FlowRow, BOQ_BALANCE, BOQBalanceTable, INITIAL_GROUPS, INITIAL_ROWS_BY_GROUP, BOQEditor, menuItem, BOQEditorRow, BOQItemForm, GroupForm, APPROVAL_LIST, DIFF_ROWS, BOQApproval, FileListBody, DiffStat, NotifyRow, ARCHIVE, BOQArchive, BOQReports, BOQArchiveFilter, BOQArchiveExport, BOQReportFilter, BOQReportPrint, BOQReportExport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charts.jsx: 3 functions: chartTheme, ChartCanvas, baseChartOpts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chrome.jsx: 13 functions: PROJECTS, ProjectStore, useProjects, Logo, NAV, ROUTE_LABELS, PARENT_ID_OF_ROUTE, Sidebar, ProjectSwitcher, NotificationsPopover, SearchPalette, UserMenuPopover, TopBar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company-accept.jsx: 8 functions: COMPANIES, PROJECT_COMPANY, companyOf, activeCompanyId, CompanySwitcher, ACCEPT_TYPES, ACCEPT_ITEMS, AcceptanceCenter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A3: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dashboard.jsx: 7 functions: RANGE_DATA, BudgetActualChart, Donut, Kpi, ApprovalRow, PhaseProgressRow, Dashboard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datepicker.jsx: 8 functions: TH_MONTHS, TH_MONTHS_SHORT, TH_DAYS, fmtThaiDate, DatePicker, ctlBtn, quickBtn, RangeSwitch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design-canvas.jsx: 12 functions: DC, DCCtx, dcFlatten, DC_STATE_FILE, DesignCanvas, DCViewport, DCSection, DCArtboard, DCArtboardFrame, DCEditable, DCFocusOverlay, DCPostIt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dms.jsx: 5 functions: DMS_CATS, DMS_SEED, DMS_ST, DMSCenter, DMSUploadForm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ds.jsx: 18 functions: fmt, fmtDec, Icon, STATUS, StatusBadge, Btn, Card, Bar, Kbd, Avatar, th, td, Filter, Tag, Page, TabBar, MiniKpi, Dropdown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etax.jsx: 3 functions: ETAX_SEED, ETAX_ST, TaxETax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exec-audit.jsx: 4 functions: ExecDashboard, AUDIT_ENTRIES, AUDIT_ACT, AuditLog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extra-screens.jsx: 7 functions: ScreenLogin, REPORT_CATS, ReportsHub, SettingsCompany, NOTIFS, NotificationsCenter, ForgotForm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fa.jsx: 17 functions: ASSETS, FA_CATS, FA_LOCS, FA_CC, FA_ACCT, FA_METHODS, FARegister, AssetForm, AssetImportForm, AssetDetail, FADepreciation, DeprRunForm, ADJ_ROWS, FAAdjust, RevalueForm, WriteOffForm, AdjustDetail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finance.jsx: 6 functions: AP_INVOICES, FinanceAP, AR_CUSTOMERS, FinanceAR, GL_ENTRIES, FinanceGL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A4: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forms.jsx: 20 functions: VendorPick, approveDoc, rejectDoc, reviseDoc, cancelDoc, openCreatePO, openCreateWO, openCreateGR, openReturnGR, PR_FOR_PO, POCreateForm, SUBCON_OPTS, WOCreateForm, PO_FOR_GR, GRCreateForm, ReturnForm, PR_TYPE_TABS, BOQ_ITEMS_FOR_PR, openCreatePR, PRCreateForm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gl.jsx: 16 functions: JV_LIST, GLJournalVoucher, COA, JVCreateForm, POST_INBOX, DEFAULT_POSTING_FILTER, GLPostingInbox, FilterChip, PostingInboxFilter, TRIAL, GLTrialBalance, GLStatements, StmtSection, BalanceSheet, ProfitLoss, GLPeriodClose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gr.jsx: 3 functions: GR_ROWS, RETURN_ROWS, GRList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i18n.jsx: 11 functions: LANGS, langResolve, DICT, I18N, useLang, t, LanguageSwitcher, NAV_I18N, tn, PHRASES, PHRASE_PATTERNS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inventory.jsx: 13 functions: ITEMS, InventoryItems, InventoryStock, TRANSFERS, InventoryTransfer, ISSUES, InventoryIssue, ItemAddForm, ItemImportForm, ItemExportForm, WarehouseAddForm, TransferAddForm, IssueAddForm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ios-frame.jsx: 7 functions: IOSStatusBar, IOSGlassPill, IOSNavBar, IOSListRow, IOSList, IOSDevice, IOSKeyboard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labor.jsx: 8 functions: LABOR_TEAMS, WORKERS_SEED, LaborWorkers, WorkerForm, ATT_OPTS, LaborAttendance, PAYROLL_SEED, LaborPayroll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A5: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land.jsx: 13 functions: LAND_STAGES, LAND_PLOTS, TENURE_LABEL, plotArea, plotPrice, areaText, landPlotsForActive, LandKpi, LandPipeline, LandBank, LandPlotForm, openPlotDetail, openExportModal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land2.jsx: 11 functions: SurveyRow, LandSurvey, FeasStat, DD_ITEMS, DD_ST, LandDueDiligence, DealField, openSurveyForm, SurveyForm, openContractDraft, openContractConfirm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line-oa.jsx: 22 functions: LINE_GREEN, LINE_BG, LineFrame, DateSep, Bubble, CardBubble, QuickReplies, InputBar, LineHome, LineReport, LineTrack, LineWarranty, LinePayment, LinePromo, LineCommon, LineSales, LiffReport, LiffTrack, LinePush, LineBind, LINE_SCREENS, LineOAPreview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line-pm.jsx: 4 functions: LinePMPlan, LinePMQuote, LinePMCert, LinePMContracts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linked-docs.jsx: 6 functions: LINKED_DOCS, openLinkedDocs, LinkedDocsBody, ChainPill, ChainArrow, RelatedDocsList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master-party.jsx: 10 functions: VENDOR_SEED, VEN_TYPES, CUSTOMER_SEED, CUS_TYPES, PartyKpi, partyFld, MasterVendor, VendorForm, MasterCustomer, CustomerForm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A6: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master.jsx: 25 functions: ORG_SEED, OrgAddForm, MasterCompany, BLOCK_SEED, BLOCK_COLORS, BlockAddForm, MasterProject, MODELS, ModelAddForm, MasterModel, CC_SEED, CCAddForm, MasterCC, DOCNUM_SEED, RESET_OPTS, LOCK_OPTS, DocNumForm, MasterDocNum, ROLE_PRESETS, UsersPermissions, UserAddForm, RoleAddForm, SyncStatus, openCreateProject, CreateProjectForm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mobile-field.jsx: 4 functions: MStGRList, MStReceive, MFmProgress, MFmAccept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mobile-pm.jsx: 6 functions: MPMJobs, MPMCheckin, MPM_RESULTS, MPMChecklist, MPMNotes, MPMClose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mobile-preview.jsx: 3 functions: MOBILE_GROUPS, MobilePreview, MobileScreenRouter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mobile-screens.jsx: 17 functions: MTabBar, MSection, MField, MInput, MPill, MSrvNewReport, MSrvTrack, MTechJobs, MTechClose, MFieldProgress, MFieldGR, MFieldQuickPR, MFieldStock, MFieldCheckin, MFieldHSE, MExecDashboard, MSalesCRM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mobile.jsx: 7 functions: MobileStatusBar, MobileHeader, MobileApprovalInbox, MobileApprovalDetail, MobileApproveSheet, MobileRejectSheet, MobileNotifications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modal.jsx: 2 functions: Modal, ConfirmDialog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opex-budget.jsx: 7 functions: OPEX_SEED, OPEX_MONTHLY, OpexBudget, OpexTransferForm, OPEX_HIST_YEARS, OPEX_HISTORY, OpexMultiYear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A7: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petty-alloc.jsx: 6 functions: PETTY_TX, PettyCash, ALLOC_CAT, AllocateCost, PettyTopupForm, PettyClaimForm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pkg-builder.jsx: 18 functions: pkgNavGroups, pkgAllIds, pkgPresetIds, PKG_STORE, usePkgList, openPkgBuilder, PkgBuilderForm, PkgAdminGrid, tenantPkg, pkgMenuAllowed, setTenantPkg, PkgDemoSwitcher, PKG_SUB_RULES, pkgSubMenuAllowed, aiQuota, consumeAiCredit, AiQuotaChip, openAiQuotaModal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pm-checklist.jsx: 6 functions: PM_CHECKLIST_TEMPLATES, openChecklistPicker, ChecklistPicker, openChecklistManager, ChecklistManager, ChecklistEditor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pm.jsx: 14 functions: PM_ASSETS_BY_TYPE, PM_STATUS, pmAssets, PM_MONTHLY, PM_WOS, PMWO_STATUS, PM_CONTRACTS, PMC_STATUS, PMKpi, PMDashboard, PMAssets, PMAssetForm, openAssetDetail, openPMExport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pm2.jsx: 16 functions: PMContracts, openAddProject, AddProjectPicker, openProjectContracts, openContractDetail, pmProjectInfo, PMContractWizard, activeProjectTypeFor, SelectOther, PMContractForm, PMSchedule, PM_PLAN_ITEMS, PM_DAY_MARKS, PM_TONE, PMCalendar, PMUpcoming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pm3.jsx: 8 functions: PM_CHECKLIST, RESULT_OPTS, nextResult, PMWorkOrders, PMWorkOrderDetail, PhotoChip, NoteField, PMWOForm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po-wo.jsx: 7 functions: PO_ROWS, POList, SmallStat, POForm, WO_ROWS, WOList, WOForm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A8: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pr-form.jsx: 9 functions: Field, Input, Select, TYPE_TABS, ITEMS, APPROVERS, ApprovalChain, BudgetBar, PRForm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pr-list.jsx: 6 functions: PR_TYPES, PR_ROWS, TypeChip, ApprovalSteps, PRList, thLocal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project-type-screen.jsx: 6 functions: MODULE_LABELS, ALL_MODULES, MasterProjectType, TYPE_ICONS, TYPE_COLORS, ProjectTypeForm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project-types.jsx: 8 functions: PROJECT_TYPES, PROJECT_TYPE_LIST, activeProject, activeProjectType, moduleOn, TypeBadge, routeModule, routeAllowedForProject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real-forms.jsx: 15 functions: RF_fld, openChequeForm, RFCheque, openBankImport, RFBankImport, openReconcileConfirm, openPayForm, RFPay, openReceiveForm, RFReceive, openBOQPick, RFBOQPick, openCustHistory, openInvoiceForm, RFInvoice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real-forms2.jsx: 30 functions: RF2_fld, openAttachModal, RF2Attach, openLineItemForm, RF2LineItem, openVarOrderForm, RF2VO, openPkgForm, RF2Pkg, openInviteUserForm, RF2Invite, openNotifySend, openAssetEditForm, RF2AssetEdit, openOMTicketForm, RF2OMForm, RF2OMView, openPermitForm, RF2Permit, openWarrantyForm, RF2Warranty, openMilestoneForm, RF2Milestone, openVendorCompare, openBankMatch, RF2BankMatch, openBatchConfirm, openDocHistory, openFilterModal, RF2Filter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A9: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sales-crm.jsx: 7 functions: SalesDashboard, LEADS_BY_STAGE, HOT_TONE, SalesCRM, LeadForm, LeadDetail, SalesReportDialog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sales-process.jsx: 9 functions: CustomerPicker, SalesProcess, QuoteForm, BookingForm, ContractForm, SalesDown, DownPaymentReceiveForm, SalesLoan, TransferForm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sales-service.jsx: 6 functions: SERVICE_TICKETS, PRIO_COLOR, SVC_STATUS, AfterSalesService, TicketDetail, NewTicketForm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shell.jsx: 9 functions: TWEAK_DEFAULTS, ACCENT_PALETTES, applyTweaks, AppShell, RouteView, Placeholder, TweaksPopover, TwSection, SegSwitch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solar.jsx: 6 functions: SolarKpi, SolarMonitoring, SolarPPA, SolarROI, SolarPermit, SolarWarranty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subcon-accept.jsx: 9 functions: SUBC_CONTRACTS, SUBC_METHOD, PERIOD_STATE, SUBC_CONTRACT, ACCEPT_CHECKLIST, SubcKpi, SubconContracts, openSubcContractForm, SubcContractForm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subcon-accept2.jsx: 4 functions: SubconAccept, SUBC_DMS_DOCS, AcceptForm, SubconHandover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subcon.jsx: 7 functions: SUBCONS, PROGRESS_PAYMENTS, VARIATIONS, SubconProgress, CheckRow, SubconSummaryReport, SubconAddForm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subscription-admin.jsx: 11 functions: SUBSCRIBERS, SUB_ST, COMPANY_USERS, companyUsers, AdminKpi, AdminOverview, AdminSubscribers, AdminPlans, AdminInvoices, CompanyControl, seatBtn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A10: Function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ชื่อไฟล์และ function/component ที่ประกาศจริง — chunk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subscription-flow.jsx: 5 functions: quotaStatus, openQuotaBlock, quotaGuard, openSignup, SignupWizard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subscription.jsx: 9 functions: SUB_PACKAGES, SUB_PKG, MY_SUB, SUB_INVOICES, pctTone, limitText, SubMine, SubPlans, SubBilling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tax-forms.jsx: 13 functions: FormPage, btnDark, TaxIdBoxes, TH_MONTHS_FULL, PND30Form, AddrCell, PND53Form, WHTCertificate, PartyBox, bahtText, openPND30, openPND53, openWHTCertificate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143000"/>
            <a:ext cx="6446520" cy="649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tax.jsx: 2 functions: TaxVAT, TaxWHT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timeline.jsx: 8 functions: openImportBOQ, IMPORT_PREVIEWS, ImportBOQBody, TIMELINE_TASKS, MILESTONES, TODAY_DAY, ProjectTimeline, TaskDetail</a:t>
            </a:r>
          </a:p>
          <a:p>
            <a:pPr>
              <a:spcAft>
                <a:spcPts val="150"/>
              </a:spcAft>
              <a:defRPr sz="630">
                <a:solidFill>
                  <a:srgbClr val="0F172A"/>
                </a:solidFill>
                <a:latin typeface="Arial"/>
              </a:defRPr>
            </a:pPr>
            <a:r>
              <a:t>• tweaks-panel.jsx: 15 functions: __TWEAKS_STYLE, useTweaks, TweaksPanel, TweakSection, TweakRow, TweakSlider, TweakToggle, TweakRadio, TweakSelect, TweakText, TweakNumber, __twkIsLight, __TwkCheck, TweakColor, TweakButton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Appendix B: Route/Menu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สรุปจำนวน route ต่อกลุ่มเมนูจาก NAV-ROUTES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2563EB"/>
                </a:solidFill>
                <a:latin typeface="Arial"/>
              </a:defRPr>
            </a:pPr>
            <a:r>
              <a:t>งานหลัก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Land, BOQ, PR/PO/WO/GR, Subcon, Timeline, Inventory, Petty, Acceptance, Labor, PM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0" y="12344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F59E0B"/>
                </a:solidFill>
                <a:latin typeface="Arial"/>
              </a:defRPr>
            </a:pPr>
            <a:r>
              <a:t>พลังงาน/EPC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Solar Monitoring, PPA, ROI, Permit, Warranty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2344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10B981"/>
                </a:solidFill>
                <a:latin typeface="Arial"/>
              </a:defRPr>
            </a:pPr>
            <a:r>
              <a:t>บัญชี-การเงิน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Alloc, OPEX, GL, AP, AR, Bank, Tax, FA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34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8346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EF4444"/>
                </a:solidFill>
                <a:latin typeface="Arial"/>
              </a:defRPr>
            </a:pPr>
            <a:r>
              <a:t>งานขาย-อสังหาฯ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Sales dashboard, CRM, process, down, loan, after-sales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834640"/>
            <a:ext cx="73152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6D28D9"/>
                </a:solidFill>
                <a:latin typeface="Arial"/>
              </a:defRPr>
            </a:pPr>
            <a:r>
              <a:t>ระบบ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Master data, users, reports, DMS, settings, audit, mobile, LINE, 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34840"/>
            <a:ext cx="73152" cy="1143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6640" y="4434840"/>
            <a:ext cx="6126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250" b="1">
                <a:solidFill>
                  <a:srgbClr val="0B2A4A"/>
                </a:solidFill>
                <a:latin typeface="Arial"/>
              </a:defRPr>
            </a:pPr>
            <a:r>
              <a:t>บัญชีการใช้งาน/Platform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Tenant package/billing + platform admin revenue/subscribers/plans/invoices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434840"/>
            <a:ext cx="73152" cy="1143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1887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353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A4A"/>
                </a:solidFill>
                <a:latin typeface="Arial"/>
              </a:defRPr>
            </a:pPr>
            <a:r>
              <a:t>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14400"/>
            <a:ext cx="1261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ไฟล์นี้สร้างจากเอกสารจริงในเครื่อง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280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docs/handoff/FUNCTIONS.md — feature behavior summary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docs/handoff/FUNCTIONS-INVENTORY.md — 719 functions / 78 files inventory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docs/extract/NAV-ROUTES.md — menu/route coverage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docs/extract/PROJECT-TYPES.md — 4 project types + module gating</a:t>
            </a:r>
          </a:p>
          <a:p>
            <a:pPr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tests/visual/reference/shots/*.png — ภาพประกอบจาก visual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6217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Next: Investor-ready version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ถ้าจะใช้ pitch จริง จ่อยแนะนำตัด appendix ออกเป็น backup และเพิ่ม traction, market size, pricing, ask,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73152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06640" y="4572000"/>
            <a:ext cx="6217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09728" wrap="square"/>
          <a:lstStyle/>
          <a:p>
            <a:pPr algn="ctr">
              <a:defRPr sz="1500" b="1">
                <a:solidFill>
                  <a:srgbClr val="2563EB"/>
                </a:solidFill>
                <a:latin typeface="Arial"/>
              </a:defRPr>
            </a:pPr>
            <a:r>
              <a:t>Next: Demo version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ถ้าจะใช้ demo product จ่อยแนะนำเพิ่ม screenshot ราย module + highlight flow ที่ investor เข้าใจใน 3 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57200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7818120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Juneflow · Construction ERP + Subscription SaaS · Source: docs/handoff + docs/extract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