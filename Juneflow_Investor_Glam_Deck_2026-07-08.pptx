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91440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Juneflow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6583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22D3EE"/>
                </a:solidFill>
                <a:latin typeface="Arial"/>
              </a:defRPr>
            </a:pPr>
            <a:r>
              <a:t>Construction ERP SaaS</a:t>
            </a:r>
            <a:br/>
            <a:r>
              <a:t>for Real Project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t>จาก BOQ → จัดซื้อ → ผู้รับเหมา → บัญชี → ขาย → หลังขาย</a:t>
            </a:r>
            <a:br/>
            <a:r>
              <a:t>ระบบเดียวที่ทำให้ “ต้นทุนโครงการ” มองเห็นได้จริง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626364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37336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Arial"/>
              </a:defRPr>
            </a:pPr>
            <a:r>
              <a:t>44+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6867144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rial"/>
              </a:defRPr>
            </a:pPr>
            <a:r>
              <a:t>เมนูหลัก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626364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637336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  <a:latin typeface="Arial"/>
              </a:defRPr>
            </a:pPr>
            <a:r>
              <a:t>100+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911" y="6867144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rial"/>
              </a:defRPr>
            </a:pPr>
            <a:r>
              <a:t>screens /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626364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637336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Arial"/>
              </a:defRPr>
            </a:pPr>
            <a:r>
              <a:t>719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6867144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rial"/>
              </a:defRPr>
            </a:pPr>
            <a:r>
              <a:t>prototype functions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626364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637336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A855F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6867144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rial"/>
              </a:defRPr>
            </a:pPr>
            <a:r>
              <a:t>vertical project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Investor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ข้อความหลักที่อยากให้นักลงทุนจำได้ใน 20 วินาที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26187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Juneflow เปลี่ยนงานก่อสร้างที่กระจายอยู่ใน Excel, เอกสาร, แชต และบัญชีปลายทาง</a:t>
            </a:r>
            <a:br/>
            <a:r>
              <a:t>ให้กลายเป็นระบบ ERP SaaS ที่คุมต้นทุนและกำไรได้ระดับโครงการ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657600"/>
            <a:ext cx="3886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3657600"/>
            <a:ext cx="50292" cy="1417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382219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822191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261104"/>
            <a:ext cx="3474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ข้อมูลจริงของไซต์งานกับตัวเลขบัญชีไม่เคยอยู่ที่เดียวกัน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3657600"/>
            <a:ext cx="3886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3657600"/>
            <a:ext cx="5029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1" y="382219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3822191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4261104"/>
            <a:ext cx="3474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workflow ลึกตั้งแต่ BOQ ถึง GL และ After-sales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3657600"/>
            <a:ext cx="3886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3657600"/>
            <a:ext cx="50292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382219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2448" y="3822191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4261104"/>
            <a:ext cx="34747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ขายเป็น subscription ตามแพ็กเกจ เมนู โควต้า และ AI credit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Product Galaxy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ครบทุก function แต่เล่าแบบไม่รก: รวมเป็น 9 กลุ่มธุรกิจ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70332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703320"/>
            <a:ext cx="50292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4432" y="386791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9648" y="3867911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SaaS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51008" y="4306824"/>
            <a:ext cx="2331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Package / Tenant /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65766" y="5143344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65766" y="5143344"/>
            <a:ext cx="50292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0358" y="530793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15574" y="5307936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Master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6934" y="5746848"/>
            <a:ext cx="2331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Company / Project / 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4005" y="5909565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4005" y="5909565"/>
            <a:ext cx="50292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8597" y="6074157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3813" y="6074157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BOQ + AI QTO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5173" y="6513069"/>
            <a:ext cx="2331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Budget / BIM / Approval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5643459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0" y="5643459"/>
            <a:ext cx="50292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580805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5808051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Procurement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6246963"/>
            <a:ext cx="2331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PR / PO / WO / GR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91027" y="446954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91027" y="4469540"/>
            <a:ext cx="50292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55619" y="46341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0835" y="4634132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Subcontractor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2195" y="5073044"/>
            <a:ext cx="2331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Progress / Accept / Retention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91027" y="2937099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91027" y="2937099"/>
            <a:ext cx="50292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55619" y="310169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0835" y="3101691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Finance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2195" y="3540603"/>
            <a:ext cx="2331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AP / AR / GL / Tax / Bank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79" y="176318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79" y="1763180"/>
            <a:ext cx="50292" cy="914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05071" y="19277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7" y="1927772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1647" y="2366684"/>
            <a:ext cx="2331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CRM / Booking / Transfer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4005" y="1497074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74005" y="1497074"/>
            <a:ext cx="50292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8597" y="166166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3813" y="1661666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PM / CMMS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5173" y="2100578"/>
            <a:ext cx="2331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Contract / Schedule / WO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65766" y="2263295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65766" y="2263295"/>
            <a:ext cx="50292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30358" y="2427887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15574" y="2427887"/>
            <a:ext cx="2331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Channels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6934" y="2866799"/>
            <a:ext cx="2331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Mobile / LINE / DMS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32120" y="306324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0" y="331012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2D3EE"/>
                </a:solidFill>
                <a:latin typeface="Arial"/>
              </a:defRPr>
            </a:pPr>
            <a:r>
              <a:t>Juneflow 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0" y="3730752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Arial"/>
              </a:defRPr>
            </a:pPr>
            <a:r>
              <a:t>Audit · DMS · Approval · GL Posting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One Operating System for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เห็น flow เงินและงานตั้งแต่ต้นน้ำถึงปลายน้ำ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3042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61487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CBD5E1"/>
                </a:solidFill>
                <a:latin typeface="Arial"/>
              </a:defRPr>
            </a:pPr>
            <a:r>
              <a:t>หา/ประเมินที่ดิน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715768"/>
            <a:ext cx="2743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17520" y="2103120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23042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BOQ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2761487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CBD5E1"/>
                </a:solidFill>
                <a:latin typeface="Arial"/>
              </a:defRPr>
            </a:pPr>
            <a:r>
              <a:t>ตั้งงบ + ถอดปริมาณ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74920" y="2715768"/>
            <a:ext cx="2743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49240" y="2103120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13831" y="23042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Procure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61487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CBD5E1"/>
                </a:solidFill>
                <a:latin typeface="Arial"/>
              </a:defRPr>
            </a:pPr>
            <a:r>
              <a:t>PR/PO/WO/GR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2715768"/>
            <a:ext cx="274319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80959" y="2103120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1" y="23042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2761487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CBD5E1"/>
                </a:solidFill>
                <a:latin typeface="Arial"/>
              </a:defRPr>
            </a:pPr>
            <a:r>
              <a:t>ผู้รับเหมา + ตรวจรับ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38359" y="2715768"/>
            <a:ext cx="274321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12680" y="2103120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7272" y="23042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761487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CBD5E1"/>
                </a:solidFill>
                <a:latin typeface="Arial"/>
              </a:defRPr>
            </a:pPr>
            <a:r>
              <a:t>AP/AR/GL/Tax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070080" y="2715768"/>
            <a:ext cx="274320" cy="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2344400" y="2103120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08992" y="230428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Sell/Serve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81560" y="2761487"/>
            <a:ext cx="1783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69" b="0">
                <a:solidFill>
                  <a:srgbClr val="CBD5E1"/>
                </a:solidFill>
                <a:latin typeface="Arial"/>
              </a:defRPr>
            </a:pPr>
            <a:r>
              <a:t>ขาย + หลังขาย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544568"/>
            <a:ext cx="4169664" cy="2386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and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17720"/>
            <a:ext cx="4023360" cy="2240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4400" y="6912864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CBD5E1"/>
                </a:solidFill>
                <a:latin typeface="Arial"/>
              </a:defRPr>
            </a:pPr>
            <a:r>
              <a:t>Land pipeline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76088" y="4544568"/>
            <a:ext cx="4169664" cy="2386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m-d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4617720"/>
            <a:ext cx="4023360" cy="22402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349240" y="6912864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CBD5E1"/>
                </a:solidFill>
                <a:latin typeface="Arial"/>
              </a:defRPr>
            </a:pPr>
            <a:r>
              <a:t>PM /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10928" y="4544568"/>
            <a:ext cx="4169664" cy="2386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m-contract-ste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4617720"/>
            <a:ext cx="4023360" cy="22402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84080" y="6912864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CBD5E1"/>
                </a:solidFill>
                <a:latin typeface="Arial"/>
              </a:defRPr>
            </a:pPr>
            <a:r>
              <a:t>Project-first wizard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Why Juneflow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แตกต่างด้วย workflow ลึก + data backbone ที่ทำให้เปลี่ยนระบบยาก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114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50292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581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581912"/>
            <a:ext cx="3703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Vertical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20824"/>
            <a:ext cx="37033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ไม่ใช่ ERP ทั่วไป: มี BOQ, AI QTO, งวดผู้รับเหมา, retention, defect, project P&amp;L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417320"/>
            <a:ext cx="4114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0" y="1417320"/>
            <a:ext cx="50292" cy="1828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22392" y="1581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8" y="1581912"/>
            <a:ext cx="3703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Financial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020824"/>
            <a:ext cx="37033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เอกสารเงินทุกใบไหลเข้า GL Posting / JV ทำให้ต้นทุนจริง reconcile ได้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417320"/>
            <a:ext cx="4114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92640" y="1417320"/>
            <a:ext cx="50292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57232" y="1581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2448" y="1581912"/>
            <a:ext cx="3703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Field 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2020824"/>
            <a:ext cx="37033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Mobile approval, foreman, technician, LINE OA/LIFF ทำให้ข้อมูลจากไซต์เข้า ERP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389120"/>
            <a:ext cx="4754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20240" y="4389120"/>
            <a:ext cx="50292" cy="14630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84832" y="45537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4553712"/>
            <a:ext cx="4343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SaaS Monetization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4992624"/>
            <a:ext cx="4343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แพ็กเกจ S/M/L/Full, menu gating, quotas, AI credit, upgrade path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4389120"/>
            <a:ext cx="4754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4389120"/>
            <a:ext cx="50292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1" y="45537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553712"/>
            <a:ext cx="4343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Trust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992624"/>
            <a:ext cx="43434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AuditLog + DMS + approval matrix + i18n 4 ภาษา + middleware quota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ทำเงินได้มากกว่า license: subscription + usage +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069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50292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81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581912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20824"/>
            <a:ext cx="3657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รายเดือน/รายปีตามแพ็กเกจ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417320"/>
            <a:ext cx="4069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49240" y="1417320"/>
            <a:ext cx="50292" cy="1371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1" y="1581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1581912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Seat /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7" y="2020824"/>
            <a:ext cx="3657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คิดตามผู้ใช้หรือจำนวนโครงการ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1417320"/>
            <a:ext cx="4069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21240" y="1417320"/>
            <a:ext cx="50292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5832" y="1581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71048" y="1581912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AI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22408" y="2020824"/>
            <a:ext cx="3657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AI QTO / document intelligence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37560"/>
            <a:ext cx="4069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337560"/>
            <a:ext cx="50292" cy="1371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5021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502152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3941064"/>
            <a:ext cx="3657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setup, migration, training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9240" y="3337560"/>
            <a:ext cx="4069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9240" y="3337560"/>
            <a:ext cx="50292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3831" y="35021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3502152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7" y="3941064"/>
            <a:ext cx="3657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premium support / SLA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3337560"/>
            <a:ext cx="4069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40" y="3337560"/>
            <a:ext cx="50292" cy="13716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5832" y="35021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71048" y="3502152"/>
            <a:ext cx="3657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Vertical Upsell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3941064"/>
            <a:ext cx="3657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Solar, PM, LINE, advanced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080760"/>
            <a:ext cx="1280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Package Builder ใน prototype รองรับ S/M/L/Full + quota project/user/storage/AI แล้ว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Market Entry: 4 Verticals, 1 Core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เริ่มจาก Real Estate/Civil แล้วขยายไป Solar และ Service ได้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5989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50292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7335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7" y="1673351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Real Estate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112264"/>
            <a:ext cx="55778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ก่อสร้าง → ขายยูนิต → After-sales → LINE ลูกบ้าน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508760"/>
            <a:ext cx="5989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508760"/>
            <a:ext cx="50292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2" y="167335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1673351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Solar / EPC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112264"/>
            <a:ext cx="55778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Monitoring, O&amp;M, PPA, ROI, Permit, Warranty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383279"/>
            <a:ext cx="5989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383279"/>
            <a:ext cx="50292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5478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7" y="3547872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Civil Contractor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986783"/>
            <a:ext cx="55778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BOQ, Procurement, Subcontractor, Timeline, Inventory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383279"/>
            <a:ext cx="5989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3383279"/>
            <a:ext cx="50292" cy="1417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2" y="35478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547872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Service / 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986783"/>
            <a:ext cx="55778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สัญญาบริการ, ใบงาน, technician, certification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280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Arial"/>
              </a:defRPr>
            </a:pPr>
            <a:r>
              <a:t>กลยุทธ์: ใช้ core เดียว ลด cost of delivery แต่เปิด module ตาม project type เพื่อขายหลายตลาด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Product Proof: Prototype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ภาพประกอบสำหรับ demo — ใช้โชว์ความเป็นระบบจริง ไม่ใช่แค่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44168"/>
            <a:ext cx="4306824" cy="2569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m-grou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416052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895344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CBD5E1"/>
                </a:solidFill>
                <a:latin typeface="Arial"/>
              </a:defRPr>
            </a:pPr>
            <a:r>
              <a:t>PM grouped / service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4648" y="1344168"/>
            <a:ext cx="4306824" cy="2569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m-grou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417320"/>
            <a:ext cx="4160520" cy="2423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7800" y="3895344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CBD5E1"/>
                </a:solidFill>
                <a:latin typeface="Arial"/>
              </a:defRPr>
            </a:pPr>
            <a:r>
              <a:t>Contract 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9488" y="1344168"/>
            <a:ext cx="4306824" cy="2569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land-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1417320"/>
            <a:ext cx="4160520" cy="2423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92640" y="3895344"/>
            <a:ext cx="4160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CBD5E1"/>
                </a:solidFill>
                <a:latin typeface="Arial"/>
              </a:defRPr>
            </a:pPr>
            <a:r>
              <a:t>Land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074920"/>
            <a:ext cx="3657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5074920"/>
            <a:ext cx="50292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523951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Demo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678424"/>
            <a:ext cx="324612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เริ่มจาก Project → BOQ → PR/PO → ตรวจรับ → GL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5074920"/>
            <a:ext cx="3657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0" y="5074920"/>
            <a:ext cx="50292" cy="1143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523951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Investor Lens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5678424"/>
            <a:ext cx="324612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โชว์ว่า data ไหลจาก operation ไป finance จริง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5074920"/>
            <a:ext cx="3657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0" y="5074920"/>
            <a:ext cx="50292" cy="1143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6688" y="523951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Next 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5678424"/>
            <a:ext cx="324612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ควรทำ video demo 90 วินาทีต่อจาก deck นี้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Function Coverage, Condensed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ยังครบ แต่ไม่ทำให้คนอ่านจมในรายละเอียด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1722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0292" cy="11155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490472"/>
            <a:ext cx="5760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Core 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29384"/>
            <a:ext cx="5760720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route, modal, toast, project switcher, i18n, sidebar gating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325880"/>
            <a:ext cx="61722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325880"/>
            <a:ext cx="50292" cy="11155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16952" y="1490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1490472"/>
            <a:ext cx="5760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Commercial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8" y="1929384"/>
            <a:ext cx="5760720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subscription admin, tenant package, billing, quotas, AI credit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61722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50292" cy="11155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0906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090672"/>
            <a:ext cx="5760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529584"/>
            <a:ext cx="5760720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BOQ/BOM/AI QTO, PR/PO/WO/GR, subcon, timeline, inventory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926080"/>
            <a:ext cx="61722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926080"/>
            <a:ext cx="50292" cy="11155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30906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3090672"/>
            <a:ext cx="5760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8" y="3529584"/>
            <a:ext cx="5760720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AP, AR, GL, Bank, Tax, FA, Labor, OPEX, RevRec/WIP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26280"/>
            <a:ext cx="61722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526280"/>
            <a:ext cx="50292" cy="11155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6908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690872"/>
            <a:ext cx="5760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129784"/>
            <a:ext cx="5760720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Sales CRM, quote, booking, contract, down, loan, after-sales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4526280"/>
            <a:ext cx="617220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4526280"/>
            <a:ext cx="50292" cy="11155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6952" y="46908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855F7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4690872"/>
            <a:ext cx="5760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Channels &amp;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8" y="5129784"/>
            <a:ext cx="5760720" cy="402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Mobile, LINE OA, DMS, reports, audit, settings, sync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64008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651052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Arial"/>
              </a:defRPr>
            </a:pPr>
            <a:r>
              <a:t>719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0672" y="7004304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rial"/>
              </a:defRPr>
            </a:pPr>
            <a:r>
              <a:t>functions scanned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64008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651052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  <a:latin typeface="Arial"/>
              </a:defRPr>
            </a:pPr>
            <a:r>
              <a:t>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7004304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rial"/>
              </a:defRPr>
            </a:pPr>
            <a:r>
              <a:t>prototype files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6400800"/>
            <a:ext cx="2743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651052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Arial"/>
              </a:defRPr>
            </a:pPr>
            <a:r>
              <a:t>110±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5712" y="7004304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BD5E1"/>
                </a:solidFill>
                <a:latin typeface="Arial"/>
              </a:defRPr>
            </a:pPr>
            <a:r>
              <a:t>routes/screens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What to Raise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สไลด์นี้ตั้งใจทำเป็น placeholder ให้พี่เติมตัวเลขจริง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3886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08760"/>
            <a:ext cx="50292" cy="1874519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67335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673351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Productization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112264"/>
            <a:ext cx="347472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ทำให้ prototype → production SaaS: contract, auth, billing, audit,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508760"/>
            <a:ext cx="3886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49240" y="1508760"/>
            <a:ext cx="50292" cy="18745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1" y="167335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1673351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7" y="2112264"/>
            <a:ext cx="347472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pilot customers, implementation playbook, sales collateral, demo video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1508760"/>
            <a:ext cx="3886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29800" y="1508760"/>
            <a:ext cx="50292" cy="1874519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94392" y="1673351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9608" y="1673351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AI +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30968" y="2112264"/>
            <a:ext cx="3474720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AI QTO, document intelligence, project cost analytics, benchmark data moat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280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ใส่เพิ่มภายหลัง: เงินที่ขอ · runway · milestones · pilot logos ·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Juneflow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7772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22D3EE"/>
                </a:solidFill>
                <a:latin typeface="Arial"/>
              </a:defRPr>
            </a:pPr>
            <a:r>
              <a:t>The financial control layer</a:t>
            </a:r>
            <a:br/>
            <a:r>
              <a:t>for construction businesses.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65760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rial"/>
              </a:defRPr>
            </a:pPr>
            <a:r>
              <a:t>Vertical SaaS ที่เริ่มจาก workflow จริงของไซต์งาน</a:t>
            </a:r>
            <a:br/>
            <a:r>
              <a:t>และจบที่ตัวเลขกำไรขาดทุนระดับโครงการ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806440"/>
            <a:ext cx="4023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806440"/>
            <a:ext cx="50292" cy="10515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5971031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Pitch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6409944"/>
            <a:ext cx="36118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คุมงาน + คุมต้นทุน + คุมเงิน ในระบบเดียว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5806440"/>
            <a:ext cx="4023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40680" y="5806440"/>
            <a:ext cx="50292" cy="10515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41848" y="5971031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Product 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1848" y="6409944"/>
            <a:ext cx="36118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workflow ลึก + data backbone + field channels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5806440"/>
            <a:ext cx="4023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66960" y="5806440"/>
            <a:ext cx="50292" cy="1051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68128" y="5971031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SaaS upside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8128" y="6409944"/>
            <a:ext cx="361188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rial"/>
              </a:defRPr>
            </a:pPr>
            <a:r>
              <a:t>package + quota + AI credit + vertical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1353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Source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271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BD5E1"/>
                </a:solidFill>
                <a:latin typeface="Arial"/>
              </a:defRPr>
            </a:pPr>
            <a:r>
              <a:t>ย่อให้สวย แต่ยังยึดเอกสารจริง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325880"/>
            <a:ext cx="12070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25880"/>
            <a:ext cx="50292" cy="65836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1490472"/>
            <a:ext cx="11658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docs/handoff/FUNCTIONS.md — feature behavior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286000"/>
            <a:ext cx="12070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2286000"/>
            <a:ext cx="50292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2450592"/>
            <a:ext cx="11658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docs/handoff/FUNCTIONS-INVENTORY.md — 719 functions / 78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246120"/>
            <a:ext cx="12070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0" y="3246120"/>
            <a:ext cx="50292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3410712"/>
            <a:ext cx="11658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docs/extract/NAV-ROUTES.md — menu and route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206240"/>
            <a:ext cx="12070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4206240"/>
            <a:ext cx="50292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4370832"/>
            <a:ext cx="11658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docs/extract/PROJECT-TYPES.md — 4 vertical project 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5166360"/>
            <a:ext cx="120700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0160" y="5166360"/>
            <a:ext cx="50292" cy="6583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5330952"/>
            <a:ext cx="11658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tests/visual/reference/shots/*.png — prototype screenshots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6629400"/>
            <a:ext cx="1207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Arial"/>
              </a:defRPr>
            </a:pPr>
            <a:r>
              <a:t>Deck นี้เป็นเวอร์ชัน “อ่านเร็ว / pitch-ready” รายละเอียด function เต็มอยู่ใน deck เก่าและ source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784555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CBD5E1"/>
                </a:solidFill>
                <a:latin typeface="Arial"/>
              </a:defRPr>
            </a:pPr>
            <a:r>
              <a:t>Juneflow · Investor Pitch Deck · compact premium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